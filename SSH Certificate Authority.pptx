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40C7FF-FFF0-4DB0-8756-CC4E870A2789}" v="2" dt="2025-10-15T12:55:48.191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Carruthers" userId="d95a8fe841d9f1d7" providerId="LiveId" clId="{CB50C600-20D7-43CE-BC17-E35A50AA12FC}"/>
    <pc:docChg chg="undo custSel addSld modSld sldOrd">
      <pc:chgData name="Tony Carruthers" userId="d95a8fe841d9f1d7" providerId="LiveId" clId="{CB50C600-20D7-43CE-BC17-E35A50AA12FC}" dt="2025-10-15T13:52:36.775" v="62"/>
      <pc:docMkLst>
        <pc:docMk/>
      </pc:docMkLst>
      <pc:sldChg chg="addSp delSp modSp mod ord modClrScheme chgLayout">
        <pc:chgData name="Tony Carruthers" userId="d95a8fe841d9f1d7" providerId="LiveId" clId="{CB50C600-20D7-43CE-BC17-E35A50AA12FC}" dt="2025-10-15T13:52:36.775" v="62"/>
        <pc:sldMkLst>
          <pc:docMk/>
          <pc:sldMk cId="1169169606" sldId="258"/>
        </pc:sldMkLst>
        <pc:spChg chg="add mod">
          <ac:chgData name="Tony Carruthers" userId="d95a8fe841d9f1d7" providerId="LiveId" clId="{CB50C600-20D7-43CE-BC17-E35A50AA12FC}" dt="2025-10-15T12:48:11.652" v="4" actId="1076"/>
          <ac:spMkLst>
            <pc:docMk/>
            <pc:sldMk cId="1169169606" sldId="258"/>
            <ac:spMk id="3" creationId="{0BA72A1B-8747-F709-B469-66B6EC8B6E85}"/>
          </ac:spMkLst>
        </pc:spChg>
        <pc:spChg chg="add del mod ord">
          <ac:chgData name="Tony Carruthers" userId="d95a8fe841d9f1d7" providerId="LiveId" clId="{CB50C600-20D7-43CE-BC17-E35A50AA12FC}" dt="2025-10-15T12:48:28.108" v="6" actId="21"/>
          <ac:spMkLst>
            <pc:docMk/>
            <pc:sldMk cId="1169169606" sldId="258"/>
            <ac:spMk id="4" creationId="{5B0EA176-5EA6-44B3-4D8E-6B923233A706}"/>
          </ac:spMkLst>
        </pc:spChg>
        <pc:spChg chg="add del mod ord">
          <ac:chgData name="Tony Carruthers" userId="d95a8fe841d9f1d7" providerId="LiveId" clId="{CB50C600-20D7-43CE-BC17-E35A50AA12FC}" dt="2025-10-15T12:49:22.641" v="15" actId="21"/>
          <ac:spMkLst>
            <pc:docMk/>
            <pc:sldMk cId="1169169606" sldId="258"/>
            <ac:spMk id="5" creationId="{23638A3A-40D3-33DD-15E5-9F528F2BFD10}"/>
          </ac:spMkLst>
        </pc:spChg>
        <pc:spChg chg="add mod ord">
          <ac:chgData name="Tony Carruthers" userId="d95a8fe841d9f1d7" providerId="LiveId" clId="{CB50C600-20D7-43CE-BC17-E35A50AA12FC}" dt="2025-10-15T12:49:54.996" v="19" actId="27636"/>
          <ac:spMkLst>
            <pc:docMk/>
            <pc:sldMk cId="1169169606" sldId="258"/>
            <ac:spMk id="6" creationId="{644D9110-633B-2E2D-7DF6-3E8728E19E6C}"/>
          </ac:spMkLst>
        </pc:spChg>
      </pc:sldChg>
      <pc:sldChg chg="addSp delSp modSp new mod modClrScheme chgLayout">
        <pc:chgData name="Tony Carruthers" userId="d95a8fe841d9f1d7" providerId="LiveId" clId="{CB50C600-20D7-43CE-BC17-E35A50AA12FC}" dt="2025-10-15T12:55:03.818" v="60" actId="255"/>
        <pc:sldMkLst>
          <pc:docMk/>
          <pc:sldMk cId="1246889839" sldId="270"/>
        </pc:sldMkLst>
        <pc:spChg chg="del mod ord">
          <ac:chgData name="Tony Carruthers" userId="d95a8fe841d9f1d7" providerId="LiveId" clId="{CB50C600-20D7-43CE-BC17-E35A50AA12FC}" dt="2025-10-15T12:53:34.508" v="23" actId="700"/>
          <ac:spMkLst>
            <pc:docMk/>
            <pc:sldMk cId="1246889839" sldId="270"/>
            <ac:spMk id="2" creationId="{AA3115D5-C839-A5E8-8CB3-A5658B8620BC}"/>
          </ac:spMkLst>
        </pc:spChg>
        <pc:spChg chg="del mod ord">
          <ac:chgData name="Tony Carruthers" userId="d95a8fe841d9f1d7" providerId="LiveId" clId="{CB50C600-20D7-43CE-BC17-E35A50AA12FC}" dt="2025-10-15T12:53:34.508" v="23" actId="700"/>
          <ac:spMkLst>
            <pc:docMk/>
            <pc:sldMk cId="1246889839" sldId="270"/>
            <ac:spMk id="3" creationId="{6378B50A-25CE-9D6E-CE2E-CB35E3E4CF25}"/>
          </ac:spMkLst>
        </pc:spChg>
        <pc:spChg chg="del">
          <ac:chgData name="Tony Carruthers" userId="d95a8fe841d9f1d7" providerId="LiveId" clId="{CB50C600-20D7-43CE-BC17-E35A50AA12FC}" dt="2025-10-15T12:53:34.508" v="23" actId="700"/>
          <ac:spMkLst>
            <pc:docMk/>
            <pc:sldMk cId="1246889839" sldId="270"/>
            <ac:spMk id="4" creationId="{11A11EF7-DC2F-490A-DAC4-5E2599CFDA43}"/>
          </ac:spMkLst>
        </pc:spChg>
        <pc:spChg chg="add mod ord">
          <ac:chgData name="Tony Carruthers" userId="d95a8fe841d9f1d7" providerId="LiveId" clId="{CB50C600-20D7-43CE-BC17-E35A50AA12FC}" dt="2025-10-15T12:54:43.945" v="58" actId="14100"/>
          <ac:spMkLst>
            <pc:docMk/>
            <pc:sldMk cId="1246889839" sldId="270"/>
            <ac:spMk id="5" creationId="{A789BADC-70D3-9914-CB7A-B7C4E4FB618A}"/>
          </ac:spMkLst>
        </pc:spChg>
        <pc:spChg chg="add del mod ord">
          <ac:chgData name="Tony Carruthers" userId="d95a8fe841d9f1d7" providerId="LiveId" clId="{CB50C600-20D7-43CE-BC17-E35A50AA12FC}" dt="2025-10-15T12:53:48.666" v="24"/>
          <ac:spMkLst>
            <pc:docMk/>
            <pc:sldMk cId="1246889839" sldId="270"/>
            <ac:spMk id="6" creationId="{FCD2C314-92C0-65C0-0A8C-B338537CEDF3}"/>
          </ac:spMkLst>
        </pc:spChg>
        <pc:graphicFrameChg chg="add mod modGraphic">
          <ac:chgData name="Tony Carruthers" userId="d95a8fe841d9f1d7" providerId="LiveId" clId="{CB50C600-20D7-43CE-BC17-E35A50AA12FC}" dt="2025-10-15T12:55:03.818" v="60" actId="255"/>
          <ac:graphicFrameMkLst>
            <pc:docMk/>
            <pc:sldMk cId="1246889839" sldId="270"/>
            <ac:graphicFrameMk id="7" creationId="{7CAA786F-634D-7C1F-9EAC-946A0E2BE56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49813-0BF4-425A-BDAC-925535A54269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E28CF-EBA1-46CB-9B0C-30FB1F9D7A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0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 has </a:t>
            </a:r>
            <a:r>
              <a:rPr lang="en-US" b="1" dirty="0"/>
              <a:t>no certificates by default</a:t>
            </a:r>
            <a:r>
              <a:rPr lang="en-US" dirty="0"/>
              <a:t>. “Known host” files or </a:t>
            </a:r>
            <a:r>
              <a:rPr lang="en-US" b="1" dirty="0"/>
              <a:t>SSH CAs</a:t>
            </a:r>
            <a:r>
              <a:rPr lang="en-US" dirty="0"/>
              <a:t> (simple key signatures) are its trust anchor.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E28CF-EBA1-46CB-9B0C-30FB1F9D7AA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F28B-BEEA-9D9E-A3A8-8CCD168F3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1EC09-999D-C5DA-3F85-7A4C5FFAE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E81F-BB8D-9E20-99A3-F698D495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9C553-56BD-6D21-F509-58D54D1C6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8C285-4D6F-B215-0CF4-821BE0CB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51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577F-D351-448A-28DC-16E0CA28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34F44-93CD-B990-039C-754DC406F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80645-BF0D-8639-AFB5-EC934AF0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E417D-559F-CDBD-FEEF-290DA3CE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984F4-868C-C969-3559-CCC5BB62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54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5747-636C-B300-B4F8-A5419287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7B2CB-4898-BF22-240F-6FECD73CD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5B5DC-D78A-DA3E-C1FA-D2170014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C0C50-A819-AB3A-17A6-139717B3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A93E1-1D74-FA04-4E9A-A4CFC87C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63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3E789-F9A7-378B-274A-39051E08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B9D2E-2DBD-F18B-0DC1-91845CED9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61337-1FF3-DB0B-2533-32EBB7DD1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1C97C-53CA-F981-C4C7-B0280BBF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54E65-7BD9-3666-2FF3-98508884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B2B02-5292-11F1-C4BA-13262601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51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BAB4-5DA6-5264-3AB7-10B95AE8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E0830-14B0-F7D2-513C-62B463EA7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15AB6-33CC-56C9-3DF0-222B92E1C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DAD37-F66B-842F-BF1C-29C6860D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C847B-C950-CCDB-DA18-09567C5B9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35526-49FA-E53C-F260-6AA71EA2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823B9-D7EF-CD9E-6D1A-976FE931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48C165-7321-2344-D3D4-0788FB51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85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B820-DB65-8EA9-7882-4EF450B2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32B38-F82E-B06C-6505-2950D745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6DBCB-47C1-1DC2-B8D4-7C0AE632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377F5-1AF3-EE33-B3A8-74929F63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7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D3204-0F24-CFC5-57FE-3D464195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4FB3C-C343-F5B0-A764-C5C0BEBA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5A912-E39B-D85E-18D6-BE93EC93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41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D4EF-63E8-ECE1-44C3-5D72B8DF2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3C11C-862F-87B2-7715-CF9BEB3F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A613C-8088-655B-41C3-D081A9CD7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6506-4420-11F4-7F1D-1A5871E17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B086B-2E99-3FC5-9AA3-DDD7C54F9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0BCA9-1D57-463F-6AC5-6B68D2B1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89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CBD3-8435-5401-BFA8-BCC9DC8B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0D52E-2CC6-6E7A-FE24-AFAA3B074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F556C-3C3C-A3E6-3197-79F0112D2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6610D-D0D9-9D5F-2605-4B08B198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6429F-FDDD-D25C-3E1E-398D35EE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0BEBB-305B-37AA-76A6-0F0F3483C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14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C254-213B-27EA-EA3D-E75A4DA3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461C0-1968-FD04-FE12-9185AB6D7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93251-1405-D3CA-77D4-2CFCEE3C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047C3-6DF5-7F0A-6CE3-A9197060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10565-E742-5BD1-FCF2-FF736F05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73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5A6CF-8F61-CD16-751E-85B9BD8F1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587DA-D547-2399-3EF5-14B4ABBB1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7C632-D1A5-07B3-CA5D-D3FE35AB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2DB55-05F3-A993-76B5-80EEF476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FF45B-DE4C-733E-7665-605B4A1B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77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26046-974A-F4F7-A6C3-817EE2D0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1C188-D348-8C2F-BC01-189815142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6C084-B287-F9AF-DDF1-CAF9E6428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BD327-7D71-492D-B84A-AD10326BCE9A}" type="datetimeFigureOut">
              <a:rPr lang="en-GB" smtClean="0"/>
              <a:t>15/10/2025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9059-124D-3543-442C-C3140BF9E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C24E8-E2F5-78CA-C57D-9F577D54E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353D1-049A-49B5-8874-66837315B6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43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71419-B02D-C1E3-CA48-33B0303F4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en-GB" sz="5600" dirty="0">
                <a:solidFill>
                  <a:srgbClr val="FFFFFF"/>
                </a:solidFill>
              </a:rPr>
              <a:t>SSH Certificate Authority	</a:t>
            </a:r>
            <a:br>
              <a:rPr lang="en-GB" sz="5600" dirty="0">
                <a:solidFill>
                  <a:srgbClr val="FFFFFF"/>
                </a:solidFill>
              </a:rPr>
            </a:br>
            <a:r>
              <a:rPr lang="en-GB" sz="5600" dirty="0">
                <a:solidFill>
                  <a:srgbClr val="FFFFFF"/>
                </a:solidFill>
              </a:rPr>
              <a:t>(SSH-CA)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FECB08-ABB5-8D9A-28B7-0A1D4261B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3" y="4698614"/>
            <a:ext cx="6310469" cy="1198120"/>
          </a:xfrm>
        </p:spPr>
        <p:txBody>
          <a:bodyPr>
            <a:normAutofit lnSpcReduction="10000"/>
          </a:bodyPr>
          <a:lstStyle/>
          <a:p>
            <a:pPr algn="r"/>
            <a:endParaRPr lang="en-GB" sz="2000" dirty="0">
              <a:solidFill>
                <a:srgbClr val="FFFFFF"/>
              </a:solidFill>
            </a:endParaRPr>
          </a:p>
          <a:p>
            <a:pPr algn="r"/>
            <a:endParaRPr lang="en-GB" sz="2000" dirty="0">
              <a:solidFill>
                <a:srgbClr val="FFFFFF"/>
              </a:solidFill>
            </a:endParaRPr>
          </a:p>
          <a:p>
            <a:pPr algn="l"/>
            <a:r>
              <a:rPr lang="en-US" dirty="0">
                <a:solidFill>
                  <a:srgbClr val="FFFFFF"/>
                </a:solidFill>
              </a:rPr>
              <a:t>A Modern Approach to SSH Security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38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A72A1B-8747-F709-B469-66B6EC8B6E85}"/>
              </a:ext>
            </a:extLst>
          </p:cNvPr>
          <p:cNvSpPr txBox="1"/>
          <p:nvPr/>
        </p:nvSpPr>
        <p:spPr>
          <a:xfrm>
            <a:off x="1082615" y="1241597"/>
            <a:ext cx="324784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Client                Server</a:t>
            </a:r>
          </a:p>
          <a:p>
            <a:r>
              <a:rPr lang="en-GB" dirty="0"/>
              <a:t>  |------ TCP 22 -----&gt;|</a:t>
            </a:r>
          </a:p>
          <a:p>
            <a:r>
              <a:rPr lang="en-GB" dirty="0"/>
              <a:t>  |-- Version banner --&gt;|</a:t>
            </a:r>
          </a:p>
          <a:p>
            <a:r>
              <a:rPr lang="en-GB" dirty="0"/>
              <a:t>  |&lt;-- Version banner --|</a:t>
            </a:r>
          </a:p>
          <a:p>
            <a:r>
              <a:rPr lang="en-GB" dirty="0"/>
              <a:t>  |-- KEX Init --------&gt;|</a:t>
            </a:r>
          </a:p>
          <a:p>
            <a:r>
              <a:rPr lang="en-GB" dirty="0"/>
              <a:t>  |&lt;-- KEX Reply -------|</a:t>
            </a:r>
          </a:p>
          <a:p>
            <a:r>
              <a:rPr lang="en-GB" dirty="0"/>
              <a:t>  |  (shared secret)    |</a:t>
            </a:r>
          </a:p>
          <a:p>
            <a:r>
              <a:rPr lang="en-GB" dirty="0"/>
              <a:t>  |-- New Keys --------&gt;|</a:t>
            </a:r>
          </a:p>
          <a:p>
            <a:r>
              <a:rPr lang="en-GB" dirty="0"/>
              <a:t>  |&lt;-- New Keys --------|</a:t>
            </a:r>
          </a:p>
          <a:p>
            <a:r>
              <a:rPr lang="en-GB" dirty="0"/>
              <a:t>  |-- Auth (</a:t>
            </a:r>
            <a:r>
              <a:rPr lang="en-GB" dirty="0" err="1"/>
              <a:t>publickey</a:t>
            </a:r>
            <a:r>
              <a:rPr lang="en-GB" dirty="0"/>
              <a:t>)-&gt;|</a:t>
            </a:r>
          </a:p>
          <a:p>
            <a:r>
              <a:rPr lang="en-GB" dirty="0"/>
              <a:t>  |&lt;-- Success ----------|</a:t>
            </a:r>
          </a:p>
          <a:p>
            <a:r>
              <a:rPr lang="en-GB" dirty="0"/>
              <a:t>  |-- Shell Request ----&gt;|</a:t>
            </a:r>
          </a:p>
          <a:p>
            <a:r>
              <a:rPr lang="en-GB" dirty="0"/>
              <a:t>  |&lt;-- Interactive shell |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4D9110-633B-2E2D-7DF6-3E8728E19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72332" y="742777"/>
            <a:ext cx="5774741" cy="548549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🔹 How an SSH session works (simplified)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TCP connection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Client connects to server on port 22.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Version exchange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Both sides say what SSH version they speak (usually </a:t>
            </a:r>
            <a:r>
              <a:rPr lang="en-US" dirty="0">
                <a:latin typeface="Courier New" panose="02070309020205020404" pitchFamily="49" charset="0"/>
              </a:rPr>
              <a:t>SSH-2.0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Key exchange (KEX)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They agree on algorithms (e.g., </a:t>
            </a:r>
            <a:r>
              <a:rPr lang="en-US" dirty="0">
                <a:latin typeface="Courier New" panose="02070309020205020404" pitchFamily="49" charset="0"/>
              </a:rPr>
              <a:t>curve25519-sha256</a:t>
            </a:r>
            <a:r>
              <a:rPr lang="en-US" dirty="0"/>
              <a:t> or hybrid PQ).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They derive a </a:t>
            </a:r>
            <a:r>
              <a:rPr lang="en-US" b="1" dirty="0"/>
              <a:t>shared secret</a:t>
            </a:r>
            <a:r>
              <a:rPr lang="en-US" dirty="0"/>
              <a:t> → session keys (AES/</a:t>
            </a:r>
            <a:r>
              <a:rPr lang="en-US" dirty="0" err="1"/>
              <a:t>ChaCha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Server authentication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server proves its identity using its </a:t>
            </a:r>
            <a:r>
              <a:rPr lang="en-US" i="1" dirty="0"/>
              <a:t>host key</a:t>
            </a:r>
            <a:r>
              <a:rPr lang="en-US" dirty="0"/>
              <a:t> (like a certificate).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User authentication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client proves who they are: password, public key, or signed cert (CA).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Secure channel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Once both sides trust each other, all traffic is encrypted and integrity-checked.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16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89BADC-70D3-9914-CB7A-B7C4E4FB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6860"/>
          </a:xfrm>
        </p:spPr>
        <p:txBody>
          <a:bodyPr/>
          <a:lstStyle/>
          <a:p>
            <a:r>
              <a:rPr lang="en-GB" dirty="0"/>
              <a:t>SSH Handshake (RFC 4253)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AA786F-634D-7C1F-9EAC-946A0E2BE5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868864"/>
              </p:ext>
            </p:extLst>
          </p:nvPr>
        </p:nvGraphicFramePr>
        <p:xfrm>
          <a:off x="838200" y="1431987"/>
          <a:ext cx="10515600" cy="474497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395151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912575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47650302"/>
                    </a:ext>
                  </a:extLst>
                </a:gridCol>
              </a:tblGrid>
              <a:tr h="228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happens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868492"/>
                  </a:ext>
                </a:extLst>
              </a:tr>
              <a:tr h="57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TCP &amp; Version</a:t>
                      </a:r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 → Server: SSH-2.0-OpenSSH_9.8 Server → Client: SSH-2.0-OpenSSH_9.3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 version banner. No crypto yet.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965865"/>
                  </a:ext>
                </a:extLst>
              </a:tr>
              <a:tr h="914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Algorithm negotiation (KEXINIT)</a:t>
                      </a:r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side sends a list of supported algorithms: • KexAlgorithms (key-exchange) • HostKeyAlgorithms • Ciphers • MACs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Pick mutually supported crypto primitives.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513383"/>
                  </a:ext>
                </a:extLst>
              </a:tr>
              <a:tr h="743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Key Exchange (Diffie-Hellman-like)</a:t>
                      </a:r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Example: curve25519-sha256. Both compute shared secret K = g^{ab} mod p or curve scalar mult.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Derive shared session secret.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571664"/>
                  </a:ext>
                </a:extLst>
              </a:tr>
              <a:tr h="743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Host key verification</a:t>
                      </a:r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 signs key-exchange data with its </a:t>
                      </a:r>
                      <a:r>
                        <a:rPr lang="en-US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 private key</a:t>
                      </a: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Client verifies using known host key (from known_hosts or CA).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Authenticates server.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645435"/>
                  </a:ext>
                </a:extLst>
              </a:tr>
              <a:tr h="400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Derive session keys</a:t>
                      </a:r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 derive AES/ChaCha and HMAC keys from K + session ID.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Keys ready.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611094"/>
                  </a:ext>
                </a:extLst>
              </a:tr>
              <a:tr h="57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NEWKEYS</a:t>
                      </a:r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side sends NEWKEYS message; after that everything is encrypted.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 to secure channel.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909980"/>
                  </a:ext>
                </a:extLst>
              </a:tr>
              <a:tr h="57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User authentication</a:t>
                      </a:r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 proves identity via password, public key, or certificate.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Authenticates user.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042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88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13482-DF63-262B-D406-73F54443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8000">
                <a:solidFill>
                  <a:srgbClr val="FFFFFF"/>
                </a:solidFill>
              </a:rPr>
              <a:t>What Is SSH CA?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3170B-9BF9-4B5E-3D1E-B5C4F1BD7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An SSH CA is a cryptographic keypair used to sign user or host SSH public keys.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Signed keys become SSH certificates — short-lived, verifiable, and policy-controlled.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Servers trust the CA public key, not individual user keys.</a:t>
            </a:r>
            <a:endParaRPr lang="en-GB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692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D68D5-D16A-E53F-8E8A-D0A6A77F3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8000">
                <a:solidFill>
                  <a:srgbClr val="FFFFFF"/>
                </a:solidFill>
              </a:rPr>
              <a:t>How SSH CA Works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368A09C-A1AF-C6AC-44B3-9041575B5D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Users generate SSH keypairs as usual.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CA signs the user’s public key → issues certificate 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id_ed25519-cert.pub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Server trusts CA via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TrustedUserCAKeys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When a user connects, the server verifies: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Certificate signature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Validity window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Allowed principal (e.g., username)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Optional restrictions (command, IP, etc.)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665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CE6B4-D262-55D6-90D3-1CA78290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7916-C1F7-B706-44EE-E8B3D19F5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50213"/>
            <a:ext cx="4412417" cy="103153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3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		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5D51F4-A877-3F8B-AC8A-9DBD04AF0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244796"/>
              </p:ext>
            </p:extLst>
          </p:nvPr>
        </p:nvGraphicFramePr>
        <p:xfrm>
          <a:off x="5986925" y="2448407"/>
          <a:ext cx="5664134" cy="301943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48590">
                  <a:extLst>
                    <a:ext uri="{9D8B030D-6E8A-4147-A177-3AD203B41FA5}">
                      <a16:colId xmlns:a16="http://schemas.microsoft.com/office/drawing/2014/main" val="416966493"/>
                    </a:ext>
                  </a:extLst>
                </a:gridCol>
                <a:gridCol w="3115544">
                  <a:extLst>
                    <a:ext uri="{9D8B030D-6E8A-4147-A177-3AD203B41FA5}">
                      <a16:colId xmlns:a16="http://schemas.microsoft.com/office/drawing/2014/main" val="142974865"/>
                    </a:ext>
                  </a:extLst>
                </a:gridCol>
              </a:tblGrid>
              <a:tr h="589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000" b="1"/>
                        <a:t>Component</a:t>
                      </a:r>
                    </a:p>
                  </a:txBody>
                  <a:tcPr marL="97192" marR="97192" marT="48596" marB="48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000" b="1"/>
                        <a:t>Purpose</a:t>
                      </a:r>
                    </a:p>
                  </a:txBody>
                  <a:tcPr marL="97192" marR="97192" marT="48596" marB="48596" anchor="ctr"/>
                </a:tc>
                <a:extLst>
                  <a:ext uri="{0D108BD9-81ED-4DB2-BD59-A6C34878D82A}">
                    <a16:rowId xmlns:a16="http://schemas.microsoft.com/office/drawing/2014/main" val="2426862874"/>
                  </a:ext>
                </a:extLst>
              </a:tr>
              <a:tr h="427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ssh-keygen -s</a:t>
                      </a:r>
                    </a:p>
                  </a:txBody>
                  <a:tcPr marL="97192" marR="97192" marT="48596" marB="48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Signs public keys with CA</a:t>
                      </a:r>
                    </a:p>
                  </a:txBody>
                  <a:tcPr marL="97192" marR="97192" marT="48596" marB="48596" anchor="ctr"/>
                </a:tc>
                <a:extLst>
                  <a:ext uri="{0D108BD9-81ED-4DB2-BD59-A6C34878D82A}">
                    <a16:rowId xmlns:a16="http://schemas.microsoft.com/office/drawing/2014/main" val="3833281087"/>
                  </a:ext>
                </a:extLst>
              </a:tr>
              <a:tr h="427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ssh_ca / ssh_ca.pub</a:t>
                      </a:r>
                    </a:p>
                  </a:txBody>
                  <a:tcPr marL="97192" marR="97192" marT="48596" marB="48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Private/public CA key</a:t>
                      </a:r>
                    </a:p>
                  </a:txBody>
                  <a:tcPr marL="97192" marR="97192" marT="48596" marB="48596" anchor="ctr"/>
                </a:tc>
                <a:extLst>
                  <a:ext uri="{0D108BD9-81ED-4DB2-BD59-A6C34878D82A}">
                    <a16:rowId xmlns:a16="http://schemas.microsoft.com/office/drawing/2014/main" val="1004732360"/>
                  </a:ext>
                </a:extLst>
              </a:tr>
              <a:tr h="427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SSH Certificate</a:t>
                      </a:r>
                    </a:p>
                  </a:txBody>
                  <a:tcPr marL="97192" marR="97192" marT="48596" marB="48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Signed file (*-cert.pub)</a:t>
                      </a:r>
                    </a:p>
                  </a:txBody>
                  <a:tcPr marL="97192" marR="97192" marT="48596" marB="48596" anchor="ctr"/>
                </a:tc>
                <a:extLst>
                  <a:ext uri="{0D108BD9-81ED-4DB2-BD59-A6C34878D82A}">
                    <a16:rowId xmlns:a16="http://schemas.microsoft.com/office/drawing/2014/main" val="1580140987"/>
                  </a:ext>
                </a:extLst>
              </a:tr>
              <a:tr h="427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TrustedUserCAKeys</a:t>
                      </a:r>
                    </a:p>
                  </a:txBody>
                  <a:tcPr marL="97192" marR="97192" marT="48596" marB="48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Directive in sshd_config</a:t>
                      </a:r>
                    </a:p>
                  </a:txBody>
                  <a:tcPr marL="97192" marR="97192" marT="48596" marB="48596" anchor="ctr"/>
                </a:tc>
                <a:extLst>
                  <a:ext uri="{0D108BD9-81ED-4DB2-BD59-A6C34878D82A}">
                    <a16:rowId xmlns:a16="http://schemas.microsoft.com/office/drawing/2014/main" val="2492997737"/>
                  </a:ext>
                </a:extLst>
              </a:tr>
              <a:tr h="719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KRL (Key Revocation)</a:t>
                      </a:r>
                    </a:p>
                  </a:txBody>
                  <a:tcPr marL="97192" marR="97192" marT="48596" marB="48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Centralised revocation list</a:t>
                      </a:r>
                    </a:p>
                  </a:txBody>
                  <a:tcPr marL="97192" marR="97192" marT="48596" marB="48596" anchor="ctr"/>
                </a:tc>
                <a:extLst>
                  <a:ext uri="{0D108BD9-81ED-4DB2-BD59-A6C34878D82A}">
                    <a16:rowId xmlns:a16="http://schemas.microsoft.com/office/drawing/2014/main" val="290026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58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25D2B-A21A-5383-7796-F98888A1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SSH Key Types Breakdown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716E99-8FD1-4E69-2B5B-066BEB7B4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208600"/>
              </p:ext>
            </p:extLst>
          </p:nvPr>
        </p:nvGraphicFramePr>
        <p:xfrm>
          <a:off x="5986925" y="2402615"/>
          <a:ext cx="5664134" cy="3111018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1455960">
                  <a:extLst>
                    <a:ext uri="{9D8B030D-6E8A-4147-A177-3AD203B41FA5}">
                      <a16:colId xmlns:a16="http://schemas.microsoft.com/office/drawing/2014/main" val="1639831149"/>
                    </a:ext>
                  </a:extLst>
                </a:gridCol>
                <a:gridCol w="1403007">
                  <a:extLst>
                    <a:ext uri="{9D8B030D-6E8A-4147-A177-3AD203B41FA5}">
                      <a16:colId xmlns:a16="http://schemas.microsoft.com/office/drawing/2014/main" val="1497813846"/>
                    </a:ext>
                  </a:extLst>
                </a:gridCol>
                <a:gridCol w="2805167">
                  <a:extLst>
                    <a:ext uri="{9D8B030D-6E8A-4147-A177-3AD203B41FA5}">
                      <a16:colId xmlns:a16="http://schemas.microsoft.com/office/drawing/2014/main" val="1413240969"/>
                    </a:ext>
                  </a:extLst>
                </a:gridCol>
              </a:tblGrid>
              <a:tr h="47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Key Type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Size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Notes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691840"/>
                  </a:ext>
                </a:extLst>
              </a:tr>
              <a:tr h="47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RSA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2048–4096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Supported, but heavier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685904"/>
                  </a:ext>
                </a:extLst>
              </a:tr>
              <a:tr h="719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ECDSA (NIST)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256–521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Lighter but uses older curves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11805"/>
                  </a:ext>
                </a:extLst>
              </a:tr>
              <a:tr h="719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ED25519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256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Recommended — fast and secure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867968"/>
                  </a:ext>
                </a:extLst>
              </a:tr>
              <a:tr h="719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FIDO2 (-sk)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On device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Private key is stored in hardware</a:t>
                      </a:r>
                    </a:p>
                  </a:txBody>
                  <a:tcPr marL="122001" marR="122001" marT="122001" marB="610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180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72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DC13E-1632-CCFB-D7B5-F55E2A22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200" dirty="0">
                <a:solidFill>
                  <a:srgbClr val="FFFFFF"/>
                </a:solidFill>
              </a:rPr>
              <a:t>Automation 		&amp; </a:t>
            </a:r>
            <a:br>
              <a:rPr lang="en-GB" sz="6200" dirty="0">
                <a:solidFill>
                  <a:srgbClr val="FFFFFF"/>
                </a:solidFill>
              </a:rPr>
            </a:br>
            <a:r>
              <a:rPr lang="en-GB" sz="6200" dirty="0">
                <a:solidFill>
                  <a:srgbClr val="FFFFFF"/>
                </a:solidFill>
              </a:rPr>
              <a:t>DevOps Integration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0211C-8F0F-B8A6-8467-BB567B7BA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SSH CA supports: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Ephemeral credentials (e.g., certs valid for 15 mins–24 hours)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CI/CD pipelines signing certs just-in-time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FIDO2 or HSM-based signing (with ssh-keygen -D)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Fits into tools like:</a:t>
            </a:r>
          </a:p>
          <a:p>
            <a:pPr lvl="1"/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Ansible, Terraform, GitHub Actions, JenkinsWorks with:Bastions, jumpboxes, vendor shells, and microservices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89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B6409-8CC4-03A2-19C6-42E539D2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Useful SSH CA </a:t>
            </a:r>
            <a:r>
              <a:rPr lang="en-US" sz="6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Commands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265C24-E5DF-EB42-9E0B-AA5356B2F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84164"/>
              </p:ext>
            </p:extLst>
          </p:nvPr>
        </p:nvGraphicFramePr>
        <p:xfrm>
          <a:off x="5986925" y="2724575"/>
          <a:ext cx="5664134" cy="24670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3795">
                  <a:extLst>
                    <a:ext uri="{9D8B030D-6E8A-4147-A177-3AD203B41FA5}">
                      <a16:colId xmlns:a16="http://schemas.microsoft.com/office/drawing/2014/main" val="514124913"/>
                    </a:ext>
                  </a:extLst>
                </a:gridCol>
                <a:gridCol w="3960339">
                  <a:extLst>
                    <a:ext uri="{9D8B030D-6E8A-4147-A177-3AD203B41FA5}">
                      <a16:colId xmlns:a16="http://schemas.microsoft.com/office/drawing/2014/main" val="1942467166"/>
                    </a:ext>
                  </a:extLst>
                </a:gridCol>
              </a:tblGrid>
              <a:tr h="44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cap="none" spc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Command Example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403956"/>
                  </a:ext>
                </a:extLst>
              </a:tr>
              <a:tr h="701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Sign cert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ssh-keygen -s ssh_ca -I "id" -n user -V +1h key.pub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857855"/>
                  </a:ext>
                </a:extLst>
              </a:tr>
              <a:tr h="44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Sign with HSM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ssh-keygen -s /path/to/pkcs11.so ...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843864"/>
                  </a:ext>
                </a:extLst>
              </a:tr>
              <a:tr h="44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Revoke key/cert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ssh-keygen -k -f revoked.krl key.pub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875607"/>
                  </a:ext>
                </a:extLst>
              </a:tr>
              <a:tr h="441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cap="none" spc="0">
                          <a:solidFill>
                            <a:schemeClr val="tx1"/>
                          </a:solidFill>
                        </a:rPr>
                        <a:t>Verify cert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ssh-keygen -L -f key-cert.pub</a:t>
                      </a:r>
                    </a:p>
                  </a:txBody>
                  <a:tcPr marL="0" marR="129847" marT="64924" marB="649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27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25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F0909-8615-4FA1-88D8-136F5360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767942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OpenSSH vs OpenSSL </a:t>
            </a:r>
            <a:br>
              <a:rPr lang="en-US" sz="6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6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Not Compatible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75BECD-8C31-0375-A398-6E21D7305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198076"/>
              </p:ext>
            </p:extLst>
          </p:nvPr>
        </p:nvGraphicFramePr>
        <p:xfrm>
          <a:off x="5986925" y="2117800"/>
          <a:ext cx="5664134" cy="3680651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756256">
                  <a:extLst>
                    <a:ext uri="{9D8B030D-6E8A-4147-A177-3AD203B41FA5}">
                      <a16:colId xmlns:a16="http://schemas.microsoft.com/office/drawing/2014/main" val="3283777021"/>
                    </a:ext>
                  </a:extLst>
                </a:gridCol>
                <a:gridCol w="1964343">
                  <a:extLst>
                    <a:ext uri="{9D8B030D-6E8A-4147-A177-3AD203B41FA5}">
                      <a16:colId xmlns:a16="http://schemas.microsoft.com/office/drawing/2014/main" val="2230234803"/>
                    </a:ext>
                  </a:extLst>
                </a:gridCol>
                <a:gridCol w="1943535">
                  <a:extLst>
                    <a:ext uri="{9D8B030D-6E8A-4147-A177-3AD203B41FA5}">
                      <a16:colId xmlns:a16="http://schemas.microsoft.com/office/drawing/2014/main" val="87663802"/>
                    </a:ext>
                  </a:extLst>
                </a:gridCol>
              </a:tblGrid>
              <a:tr h="804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/>
                        <a:t>Feature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/>
                        <a:t>OpenSSH CA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300" b="1"/>
                        <a:t>OpenSSL / X.509</a:t>
                      </a:r>
                    </a:p>
                  </a:txBody>
                  <a:tcPr marL="74911" marR="74911" marT="37456" marB="37456" anchor="ctr"/>
                </a:tc>
                <a:extLst>
                  <a:ext uri="{0D108BD9-81ED-4DB2-BD59-A6C34878D82A}">
                    <a16:rowId xmlns:a16="http://schemas.microsoft.com/office/drawing/2014/main" val="3457604737"/>
                  </a:ext>
                </a:extLst>
              </a:tr>
              <a:tr h="329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Format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Custom SSH cert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X.509 (PEM/DER)</a:t>
                      </a:r>
                    </a:p>
                  </a:txBody>
                  <a:tcPr marL="74911" marR="74911" marT="37456" marB="37456" anchor="ctr"/>
                </a:tc>
                <a:extLst>
                  <a:ext uri="{0D108BD9-81ED-4DB2-BD59-A6C34878D82A}">
                    <a16:rowId xmlns:a16="http://schemas.microsoft.com/office/drawing/2014/main" val="1010914669"/>
                  </a:ext>
                </a:extLst>
              </a:tr>
              <a:tr h="554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Purpose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SSH authentication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TLS/HTTPS, Code Signing</a:t>
                      </a:r>
                    </a:p>
                  </a:txBody>
                  <a:tcPr marL="74911" marR="74911" marT="37456" marB="37456" anchor="ctr"/>
                </a:tc>
                <a:extLst>
                  <a:ext uri="{0D108BD9-81ED-4DB2-BD59-A6C34878D82A}">
                    <a16:rowId xmlns:a16="http://schemas.microsoft.com/office/drawing/2014/main" val="1360836978"/>
                  </a:ext>
                </a:extLst>
              </a:tr>
              <a:tr h="554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Chain of Trust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Flat (1-level)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Hierarchical (Root → Leaf)</a:t>
                      </a:r>
                    </a:p>
                  </a:txBody>
                  <a:tcPr marL="74911" marR="74911" marT="37456" marB="37456" anchor="ctr"/>
                </a:tc>
                <a:extLst>
                  <a:ext uri="{0D108BD9-81ED-4DB2-BD59-A6C34878D82A}">
                    <a16:rowId xmlns:a16="http://schemas.microsoft.com/office/drawing/2014/main" val="1193781223"/>
                  </a:ext>
                </a:extLst>
              </a:tr>
              <a:tr h="329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Tooling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ssh-keygen, sshd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openssl, cert stores</a:t>
                      </a:r>
                    </a:p>
                  </a:txBody>
                  <a:tcPr marL="74911" marR="74911" marT="37456" marB="37456" anchor="ctr"/>
                </a:tc>
                <a:extLst>
                  <a:ext uri="{0D108BD9-81ED-4DB2-BD59-A6C34878D82A}">
                    <a16:rowId xmlns:a16="http://schemas.microsoft.com/office/drawing/2014/main" val="3035334294"/>
                  </a:ext>
                </a:extLst>
              </a:tr>
              <a:tr h="329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Compatibility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SSH only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Browsers, APIs, etc.</a:t>
                      </a:r>
                    </a:p>
                  </a:txBody>
                  <a:tcPr marL="74911" marR="74911" marT="37456" marB="37456" anchor="ctr"/>
                </a:tc>
                <a:extLst>
                  <a:ext uri="{0D108BD9-81ED-4DB2-BD59-A6C34878D82A}">
                    <a16:rowId xmlns:a16="http://schemas.microsoft.com/office/drawing/2014/main" val="3774197037"/>
                  </a:ext>
                </a:extLst>
              </a:tr>
              <a:tr h="7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Validation method</a:t>
                      </a:r>
                    </a:p>
                    <a:p>
                      <a:pPr>
                        <a:buNone/>
                      </a:pPr>
                      <a:endParaRPr lang="en-GB" sz="1500"/>
                    </a:p>
                    <a:p>
                      <a:pPr>
                        <a:buNone/>
                      </a:pPr>
                      <a:endParaRPr lang="en-GB" sz="1500"/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TrustedUserCAKeys</a:t>
                      </a:r>
                    </a:p>
                  </a:txBody>
                  <a:tcPr marL="74911" marR="74911" marT="37456" marB="37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CRL/OCSP, cert stores</a:t>
                      </a:r>
                    </a:p>
                  </a:txBody>
                  <a:tcPr marL="74911" marR="74911" marT="37456" marB="37456" anchor="ctr"/>
                </a:tc>
                <a:extLst>
                  <a:ext uri="{0D108BD9-81ED-4DB2-BD59-A6C34878D82A}">
                    <a16:rowId xmlns:a16="http://schemas.microsoft.com/office/drawing/2014/main" val="321101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827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75ADA-8C3B-AAAA-B6F7-680704A2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8000">
                <a:solidFill>
                  <a:srgbClr val="FFFFFF"/>
                </a:solidFill>
              </a:rPr>
              <a:t>Pros of SSH CA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F773A-4CAC-5871-3D60-73F7A3D35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Centralised trust and signing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Time-bound certificates reduce risk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Revocable via KRLs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Hardware-backed protection (YubiKey, HSM)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Role-based access (via principals)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No key sprawl — certs instead of authorised_keys</a:t>
            </a:r>
            <a:endParaRPr lang="en-GB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618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B5DAFC-2A71-9077-06F5-2A69143C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Cons &amp; Considerations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ED8DE-672E-8DA8-BF0B-990950A1A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Requires full server config update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Private key security is critical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Certs must be distributed or automated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Not for HTTPS/web traffic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Admins must understand SSH CA logic</a:t>
            </a:r>
            <a:endParaRPr lang="en-GB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678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94E8B-00CA-CEAA-A4BA-FF50ADD7F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800">
                <a:solidFill>
                  <a:srgbClr val="FFFFFF"/>
                </a:solidFill>
              </a:rPr>
              <a:t>HSM &amp; FIDO2 Integration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DB7F8-1DA7-37D2-28D9-938F7ACE5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Sign certs from hardware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Require physical presence or PIN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Fully compliant with FIPS/eIDAS</a:t>
            </a:r>
          </a:p>
          <a:p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Example with PKCS#11:</a:t>
            </a:r>
          </a:p>
          <a:p>
            <a:pPr lvl="1"/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ssh-keygen -s /usr/lib/libykcs11.so -D ... -n user -V +1h key.pub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940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FB907-6836-6F14-47A1-F83B26AC2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When to Use SSH CA</a:t>
            </a:r>
            <a:endParaRPr lang="en-GB" sz="8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D6F99-45B6-AA1D-2CD6-5B4D50B69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You have 10+ servers and growing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You're rotating keys manually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You work with third-party vendors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You want better SSH visibility and control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You already use CI/CD, Ansible, or cloud automation</a:t>
            </a:r>
            <a:endParaRPr lang="en-GB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692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A45790FC-9BBD-5AA0-563C-20A00606405A}"/>
              </a:ext>
            </a:extLst>
          </p:cNvPr>
          <p:cNvSpPr/>
          <p:nvPr/>
        </p:nvSpPr>
        <p:spPr>
          <a:xfrm>
            <a:off x="4174672" y="2811229"/>
            <a:ext cx="3254828" cy="1284515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SSH Certificate Authority</a:t>
            </a:r>
          </a:p>
          <a:p>
            <a:pPr algn="ctr"/>
            <a:r>
              <a:rPr lang="en-GB" dirty="0"/>
              <a:t>(SSH-CA)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C66AACD2-9C61-9C69-A4AB-5CFFE09FD64B}"/>
              </a:ext>
            </a:extLst>
          </p:cNvPr>
          <p:cNvSpPr/>
          <p:nvPr/>
        </p:nvSpPr>
        <p:spPr>
          <a:xfrm>
            <a:off x="756556" y="3804556"/>
            <a:ext cx="2209801" cy="783772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Key Components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368AD263-E340-5AE2-41F0-D2BBCEB20A6D}"/>
              </a:ext>
            </a:extLst>
          </p:cNvPr>
          <p:cNvSpPr/>
          <p:nvPr/>
        </p:nvSpPr>
        <p:spPr>
          <a:xfrm>
            <a:off x="8556171" y="3853544"/>
            <a:ext cx="1790700" cy="783772"/>
          </a:xfrm>
          <a:prstGeom prst="flowChartTerminator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Cons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1E16040E-2CB5-C5B3-0FE2-3145DDB5003D}"/>
              </a:ext>
            </a:extLst>
          </p:cNvPr>
          <p:cNvSpPr/>
          <p:nvPr/>
        </p:nvSpPr>
        <p:spPr>
          <a:xfrm>
            <a:off x="723900" y="2345869"/>
            <a:ext cx="2242458" cy="783772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it Works</a:t>
            </a: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E13BD8CB-7059-2F04-60D8-FF2950D2DC7D}"/>
              </a:ext>
            </a:extLst>
          </p:cNvPr>
          <p:cNvSpPr/>
          <p:nvPr/>
        </p:nvSpPr>
        <p:spPr>
          <a:xfrm>
            <a:off x="8556170" y="2313211"/>
            <a:ext cx="1790701" cy="783771"/>
          </a:xfrm>
          <a:prstGeom prst="flowChartTermina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Pro’s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09F89D5-9062-B797-CD04-57AFC9987A82}"/>
              </a:ext>
            </a:extLst>
          </p:cNvPr>
          <p:cNvCxnSpPr>
            <a:cxnSpLocks/>
          </p:cNvCxnSpPr>
          <p:nvPr/>
        </p:nvCxnSpPr>
        <p:spPr>
          <a:xfrm>
            <a:off x="7429500" y="3801156"/>
            <a:ext cx="1126671" cy="520471"/>
          </a:xfrm>
          <a:prstGeom prst="curved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3A6F0393-2101-6CF2-4E7F-451846A94260}"/>
              </a:ext>
            </a:extLst>
          </p:cNvPr>
          <p:cNvCxnSpPr>
            <a:cxnSpLocks/>
          </p:cNvCxnSpPr>
          <p:nvPr/>
        </p:nvCxnSpPr>
        <p:spPr>
          <a:xfrm flipV="1">
            <a:off x="7336971" y="2536369"/>
            <a:ext cx="1219199" cy="477609"/>
          </a:xfrm>
          <a:prstGeom prst="curved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F67A0BD6-D474-1B0E-9737-599EE077061D}"/>
              </a:ext>
            </a:extLst>
          </p:cNvPr>
          <p:cNvCxnSpPr>
            <a:cxnSpLocks/>
            <a:endCxn id="7" idx="3"/>
          </p:cNvCxnSpPr>
          <p:nvPr/>
        </p:nvCxnSpPr>
        <p:spPr>
          <a:xfrm rot="10800000">
            <a:off x="2966358" y="2737755"/>
            <a:ext cx="1245054" cy="468082"/>
          </a:xfrm>
          <a:prstGeom prst="curved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64FCBA1E-25EF-6194-0685-568A19BBC1C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29619" y="3728360"/>
            <a:ext cx="1245053" cy="451748"/>
          </a:xfrm>
          <a:prstGeom prst="curved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E869125-937F-020A-CFE0-7C8342CB012A}"/>
              </a:ext>
            </a:extLst>
          </p:cNvPr>
          <p:cNvSpPr/>
          <p:nvPr/>
        </p:nvSpPr>
        <p:spPr>
          <a:xfrm>
            <a:off x="544286" y="381000"/>
            <a:ext cx="5116285" cy="1600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SSH Signs user and host public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Creates SSH Certificates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Severs trust CA Public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Clients Present Cert +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Server validates certs and adds restrictions.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5FDD67-A3E5-C2CA-2583-5FCB6DA69E27}"/>
              </a:ext>
            </a:extLst>
          </p:cNvPr>
          <p:cNvSpPr/>
          <p:nvPr/>
        </p:nvSpPr>
        <p:spPr>
          <a:xfrm>
            <a:off x="631371" y="4909457"/>
            <a:ext cx="5029200" cy="16872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ssh-keygen-s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ssh_CA</a:t>
            </a:r>
            <a:r>
              <a:rPr lang="en-GB" dirty="0"/>
              <a:t> pub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SSH Certificates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KRL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71F404-3B83-DA0A-0B23-443033D7A7A2}"/>
              </a:ext>
            </a:extLst>
          </p:cNvPr>
          <p:cNvSpPr/>
          <p:nvPr/>
        </p:nvSpPr>
        <p:spPr>
          <a:xfrm>
            <a:off x="7467601" y="381000"/>
            <a:ext cx="4495800" cy="16382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Centralised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Short-lived Certs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Revocation with KRL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Flexible restrictions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Automated Provision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FIDO2/HSM Compatibility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C062A6-4A2D-440E-1E09-53D9ADB44FF2}"/>
              </a:ext>
            </a:extLst>
          </p:cNvPr>
          <p:cNvSpPr/>
          <p:nvPr/>
        </p:nvSpPr>
        <p:spPr>
          <a:xfrm>
            <a:off x="7511143" y="4838704"/>
            <a:ext cx="4495800" cy="175803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Initial Setup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 Private key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Certs must be distributed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 x.509 Compatible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Tooling Knowledge Required</a:t>
            </a:r>
          </a:p>
        </p:txBody>
      </p:sp>
    </p:spTree>
    <p:extLst>
      <p:ext uri="{BB962C8B-B14F-4D97-AF65-F5344CB8AC3E}">
        <p14:creationId xmlns:p14="http://schemas.microsoft.com/office/powerpoint/2010/main" val="191107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Microsoft Office PowerPoint</Application>
  <PresentationFormat>Widescreen</PresentationFormat>
  <Paragraphs>192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Courier New</vt:lpstr>
      <vt:lpstr>Office Theme</vt:lpstr>
      <vt:lpstr>SSH Certificate Authority  (SSH-CA)</vt:lpstr>
      <vt:lpstr>PowerPoint Presentation</vt:lpstr>
      <vt:lpstr>SSH Handshake (RFC 4253)</vt:lpstr>
      <vt:lpstr>What Is SSH CA?</vt:lpstr>
      <vt:lpstr>How SSH CA Works</vt:lpstr>
      <vt:lpstr>Key Components</vt:lpstr>
      <vt:lpstr>SSH Key Types Breakdown</vt:lpstr>
      <vt:lpstr>Automation   &amp;  DevOps Integration</vt:lpstr>
      <vt:lpstr>Useful SSH CA Commands</vt:lpstr>
      <vt:lpstr>OpenSSH vs OpenSSL   Not Compatible</vt:lpstr>
      <vt:lpstr>Pros of SSH CA</vt:lpstr>
      <vt:lpstr>Cons &amp; Considerations</vt:lpstr>
      <vt:lpstr>HSM &amp; FIDO2 Integration</vt:lpstr>
      <vt:lpstr>When to Use SSH CA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Carruthers</dc:creator>
  <cp:lastModifiedBy>Tony Carruthers</cp:lastModifiedBy>
  <cp:revision>1</cp:revision>
  <dcterms:created xsi:type="dcterms:W3CDTF">2025-07-23T09:26:34Z</dcterms:created>
  <dcterms:modified xsi:type="dcterms:W3CDTF">2025-10-15T13:52:45Z</dcterms:modified>
</cp:coreProperties>
</file>